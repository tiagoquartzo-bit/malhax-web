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FA62CD-423C-46A2-A2B2-C648B549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2C711EE-89BB-4108-8CCA-C58EEEC1E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2C532F1-EF52-4472-8814-056CFAF9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295F3C-B2C6-4AA6-BA53-E57F83324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934E4DD-2948-4692-AA94-DA78E37B8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616644E-53C2-46A7-A7C9-A91687A1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FC86698-1390-4054-8AF8-72F652AE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D3758E5-3506-4BBE-8B8A-6C6D3E5C1F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535F96-7E85-4CAD-8883-8CB0C981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463D0DF-8235-4EF3-B986-C371767B8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EC57C0B-AEE8-4048-99BC-44F047F85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44" r="19444"/>
          <a:stretch>
            <a:fillRect/>
          </a:stretch>
        </p:blipFill>
        <p:spPr>
          <a:xfrm>
            <a:off x="5905500" y="0"/>
            <a:ext cx="62865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71739D2-4AA0-4D25-8662-E22C6EB89F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286500" cy="6858000"/>
          </a:xfrm>
          <a:prstGeom prst="rect">
            <a:avLst/>
          </a:prstGeom>
          <a:solidFill>
            <a:srgbClr val="070E1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99DBEC6-9EF3-4BDC-8E03-0FD2ACFBB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595936"/>
            <a:ext cx="2952750" cy="111317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E69D42D-8F43-411D-92A6-0FB5F255A72D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66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MOSTRUÁRIO DA PLATAFORMA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44AFD9-7AED-4752-A26E-ED9B62BD5EC3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48577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9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9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Coletas e entregas</a:t>
            </a:r>
          </a:p>
          <a:p>
            <a:pPr algn="l">
              <a:lnSpc>
                <a:spcPct val="105000"/>
              </a:lnSpc>
              <a:buNone/>
              <a:defRPr sz="39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sob controle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DA8C4B-D6B7-4311-A0E4-B86394A75F43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45243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Uma visão funcional para gestores, backoffice e equipe de rua.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1E4E3EB-783F-4889-BB70-4FDB8B3AF8CB}"/>
              </a:ext>
            </a:extLst>
          </p:cNvPr>
          <p:cNvSpPr>
            <a:spLocks noGrp="1"/>
          </p:cNvSpPr>
          <p:nvPr/>
        </p:nvSpPr>
        <p:spPr>
          <a:xfrm>
            <a:off x="742950" y="595312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8FA2B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8FA2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2B8"/>
                </a:solidFill>
                <a:latin typeface="Arial"/>
                <a:ea typeface="Arial"/>
                <a:cs typeface="Arial"/>
              </a:rPr>
              <a:t>Outubro de 2026  ·  Prévia demonstrativa</a:t>
            </a:r>
          </a:p>
        </p:txBody>
      </p:sp>
    </p:spTree>
    <p:extLst>
      <p:ext uri="{BB962C8B-B14F-4D97-AF65-F5344CB8AC3E}">
        <p14:creationId xmlns:p14="http://schemas.microsoft.com/office/powerpoint/2010/main" val="154118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47C3E009-D63A-4A02-9859-F4C7E9D98CC6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A5A0636-2F29-4CD4-8F5E-E22A87678714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Painel de operação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2D906F-7737-46D3-BC20-B2E075803B96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Indicadores, mapa e ocorrências em uma visão de trabalho.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B1A8AC4-5FFE-41EA-92C5-B549F11FF295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7781737-4AE6-49CD-A54C-3FACD37C0D41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7153D0-D4C0-4155-97E2-4BF8947D76D1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DECISÃO COM CONTEXTO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9794CB3-0366-45CB-AD5B-30B985E85416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3714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equipe identifica atrasos e pendências, abre a parada relacionada e encontra ações rápidas para falar com o motorista ou ajustar a sequência.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DA760D-A9D8-4E6A-A21C-F2D4C60E22FA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3905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O benefício esperado é reduzir consultas manuais e dar contexto para agir durante o turno.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CCC9770-976C-4B0B-87A7-A2C2C41FB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8523" y="1809750"/>
            <a:ext cx="4651703" cy="447675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A701405-E720-4DDF-9700-A286F8B8352B}"/>
              </a:ext>
            </a:extLst>
          </p:cNvPr>
          <p:cNvSpPr>
            <a:spLocks noGrp="1"/>
          </p:cNvSpPr>
          <p:nvPr/>
        </p:nvSpPr>
        <p:spPr>
          <a:xfrm>
            <a:off x="723900" y="585787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Nomes, posições e números são ilustrativos.</a:t>
            </a:r>
          </a:p>
        </p:txBody>
      </p:sp>
    </p:spTree>
    <p:extLst>
      <p:ext uri="{BB962C8B-B14F-4D97-AF65-F5344CB8AC3E}">
        <p14:creationId xmlns:p14="http://schemas.microsoft.com/office/powerpoint/2010/main" val="70712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FE921B6B-30F1-4474-8488-DDB7DDBBC9F3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8F4662D-DC3D-45D1-B8D9-84174DA98B3E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Ordens, coletas e entregas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512544-5106-4760-89D5-BC8661CAD1B7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Cada parada registra o que deve acontecer e onde.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401CB8C-2A35-4442-B5D7-1AE6FE17C899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51D9AD4-1B7E-4817-8BA7-6459B1B1BF4F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344BC1F-D2D4-4D48-BF90-6CAA65B4FE68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PEDIDO E PARADAS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C7DED22-824E-4C03-B592-48A771128818}"/>
              </a:ext>
            </a:extLst>
          </p:cNvPr>
          <p:cNvSpPr>
            <a:spLocks noGrp="1"/>
          </p:cNvSpPr>
          <p:nvPr/>
        </p:nvSpPr>
        <p:spPr>
          <a:xfrm>
            <a:off x="723900" y="2581275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Uma ordem pode ter quantidades independentes de coletas e entregas. Cada parada mantém endereço, tipo, sequência e responsável.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A814BC-EE8F-4319-98D2-EEE468406DAA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VOLUMES IDENTIFICÁVEIS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027940F-0F25-4738-8821-972742B21085}"/>
              </a:ext>
            </a:extLst>
          </p:cNvPr>
          <p:cNvSpPr>
            <a:spLocks noGrp="1"/>
          </p:cNvSpPr>
          <p:nvPr/>
        </p:nvSpPr>
        <p:spPr>
          <a:xfrm>
            <a:off x="6477000" y="2581275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Códigos de produto ou volume associam o item à ordem. A leitura do código ajuda a conferir o que saiu para coleta e o que chegou ao destino.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897833B-CFAB-4567-AF45-06A10F61D167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38100" cy="1143000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EDFD0F6-9A99-417B-9307-DF8F82AB26D5}"/>
              </a:ext>
            </a:extLst>
          </p:cNvPr>
          <p:cNvSpPr>
            <a:spLocks noGrp="1"/>
          </p:cNvSpPr>
          <p:nvPr/>
        </p:nvSpPr>
        <p:spPr>
          <a:xfrm>
            <a:off x="942975" y="45720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Benefício operacional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5CA383-5731-4B67-86B0-3060733B8A19}"/>
              </a:ext>
            </a:extLst>
          </p:cNvPr>
          <p:cNvSpPr>
            <a:spLocks noGrp="1"/>
          </p:cNvSpPr>
          <p:nvPr/>
        </p:nvSpPr>
        <p:spPr>
          <a:xfrm>
            <a:off x="942975" y="4972050"/>
            <a:ext cx="9525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5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Menos divergência entre pedido, volumes e pontos do roteiro.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0BCB96A-1BD9-43D7-8FEB-9210288EB41D}"/>
              </a:ext>
            </a:extLst>
          </p:cNvPr>
          <p:cNvSpPr>
            <a:spLocks noGrp="1"/>
          </p:cNvSpPr>
          <p:nvPr/>
        </p:nvSpPr>
        <p:spPr>
          <a:xfrm>
            <a:off x="723900" y="5857875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Os dados desta versão ainda não representam pedidos reais da operação.</a:t>
            </a:r>
          </a:p>
        </p:txBody>
      </p:sp>
    </p:spTree>
    <p:extLst>
      <p:ext uri="{BB962C8B-B14F-4D97-AF65-F5344CB8AC3E}">
        <p14:creationId xmlns:p14="http://schemas.microsoft.com/office/powerpoint/2010/main" val="185822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587FED13-912E-407B-BCE0-3094A201340B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D6EBEB-E783-48F2-AF89-900FAD25A758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Despacho e distribuição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1E1861D-C490-4984-ACDA-FF6145F21388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Atribuição organizada para cada viagem.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98B25F8-0ABA-4715-9222-05E1EC1B981C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28FB9AF-F661-4FE4-8FC6-4C0AEBD1D474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718337C-BF3C-4650-9C84-698908796616}"/>
              </a:ext>
            </a:extLst>
          </p:cNvPr>
          <p:cNvSpPr>
            <a:spLocks noGrp="1"/>
          </p:cNvSpPr>
          <p:nvPr/>
        </p:nvSpPr>
        <p:spPr>
          <a:xfrm>
            <a:off x="723900" y="22193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RESPONSÁVEL DEFINIDO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5BF0D94-89DB-41C6-8AA0-17BFDF069E7E}"/>
              </a:ext>
            </a:extLst>
          </p:cNvPr>
          <p:cNvSpPr>
            <a:spLocks noGrp="1"/>
          </p:cNvSpPr>
          <p:nvPr/>
        </p:nvSpPr>
        <p:spPr>
          <a:xfrm>
            <a:off x="723900" y="2562225"/>
            <a:ext cx="4762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gestor relaciona pedido, motorista e veículo, organiza as paradas e visualiza o que está pendente, em andamento, concluído ou cancelado.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F520890-FA1A-46A8-A8A3-89EE9029B15C}"/>
              </a:ext>
            </a:extLst>
          </p:cNvPr>
          <p:cNvSpPr>
            <a:spLocks noGrp="1"/>
          </p:cNvSpPr>
          <p:nvPr/>
        </p:nvSpPr>
        <p:spPr>
          <a:xfrm>
            <a:off x="6477000" y="22193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MUDANÇAS RASTREÁVEIS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270BC79-D72A-4F73-88E4-5ACDAC3A7E95}"/>
              </a:ext>
            </a:extLst>
          </p:cNvPr>
          <p:cNvSpPr>
            <a:spLocks noGrp="1"/>
          </p:cNvSpPr>
          <p:nvPr/>
        </p:nvSpPr>
        <p:spPr>
          <a:xfrm>
            <a:off x="6477000" y="2562225"/>
            <a:ext cx="4762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Inclusões, remoções e reordenações devem guardar quem alterou, quando alterou e qual sequência o motorista recebeu.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BDFB786-37EB-4CEF-8CD7-7DE587F815C5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7F963F2-F043-488E-84F9-4CAD3EFC4C11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009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O backoffice trabalha com uma sequência visível e o motorista recebe instruções alinhadas à operação.</a:t>
            </a:r>
          </a:p>
        </p:txBody>
      </p:sp>
    </p:spTree>
    <p:extLst>
      <p:ext uri="{BB962C8B-B14F-4D97-AF65-F5344CB8AC3E}">
        <p14:creationId xmlns:p14="http://schemas.microsoft.com/office/powerpoint/2010/main" val="155110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AABE50D7-34B0-42F2-8488-75B4E14A9D3A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F21290C-8500-4DDE-8113-2CF39ECB2C28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Execução pelo motorista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3F3752C-07E0-4068-B7EC-AB84BDE9C50E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 fluxo curto para usar em campo, com Android em mente.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D91731-477A-4756-9157-0D539308861B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C679B6-D17F-445A-8230-6AD88E1DB4A1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906D33A-D951-4718-8D0A-663727D2903C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ROTEIRO DO DIA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711D856-5111-4842-9E53-C0AD50B1D288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762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motorista vê as próprias paradas em ordem e abre a navegação no aplicativo de mapas escolhido.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4B5AC29-F45C-4111-A192-2EF364985956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BAIXA DA PARADA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9EBFBDA-3993-4767-8734-1D477A769F0C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4762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execução registra etapas como a caminho, chegou ao local, entregue ou tentativa não concluída, com motivo quando necessário.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6CF153F-47DB-404E-83BB-7F6506D5E2BA}"/>
              </a:ext>
            </a:extLst>
          </p:cNvPr>
          <p:cNvSpPr>
            <a:spLocks noGrp="1"/>
          </p:cNvSpPr>
          <p:nvPr/>
        </p:nvSpPr>
        <p:spPr>
          <a:xfrm>
            <a:off x="723900" y="4333875"/>
            <a:ext cx="10744200" cy="19050"/>
          </a:xfrm>
          <a:prstGeom prst="rect">
            <a:avLst/>
          </a:prstGeom>
          <a:solidFill>
            <a:srgbClr val="21314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58BB5B7-E8E7-40D9-B935-751D357BA188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Aplicativo Android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56F76FD-AE33-43E3-BD8C-60108E00263F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1028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próxima etapa é validar câmera, localização e sincronização em aparelho físico. O APK de desenvolvimento ainda não representa uma versão de produção.</a:t>
            </a:r>
          </a:p>
        </p:txBody>
      </p:sp>
    </p:spTree>
    <p:extLst>
      <p:ext uri="{BB962C8B-B14F-4D97-AF65-F5344CB8AC3E}">
        <p14:creationId xmlns:p14="http://schemas.microsoft.com/office/powerpoint/2010/main" val="201245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60E1A699-C020-459C-BFE9-00122B3C47F3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889F18-2948-4410-8810-7D456000D0EE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Acompanhamento ao vivo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72B315-283B-4583-BE66-751439809A9D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Localização só é útil quando vem acompanhada de qualidade e horário.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C997D0-4BDA-4E3B-8F03-B30FA6F5F6B2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5E60C2-CCE4-4C22-8070-9F45D1B046D8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491D42-D3D5-4D55-9920-A8253A8C7AAD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O QUE O GESTOR PRECISA VER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BEDEFDF-B81D-4978-BEEA-36928D4F2B00}"/>
              </a:ext>
            </a:extLst>
          </p:cNvPr>
          <p:cNvSpPr>
            <a:spLocks noGrp="1"/>
          </p:cNvSpPr>
          <p:nvPr/>
        </p:nvSpPr>
        <p:spPr>
          <a:xfrm>
            <a:off x="723900" y="2514600"/>
            <a:ext cx="47625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Última posição recebida, horário da leitura e precisão estimada do GPS, com indicação clara quando o sinal estiver antigo.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9CB0F0-1E13-4994-B506-ECA459390E59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COMO A EQUIPE AGE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0DB28E-C72D-42B5-9A0F-EB6BAEB5C1F5}"/>
              </a:ext>
            </a:extLst>
          </p:cNvPr>
          <p:cNvSpPr>
            <a:spLocks noGrp="1"/>
          </p:cNvSpPr>
          <p:nvPr/>
        </p:nvSpPr>
        <p:spPr>
          <a:xfrm>
            <a:off x="6477000" y="2514600"/>
            <a:ext cx="47625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Ao identificar uma parada atrasada ou sem atualização, o suporte abre o pedido, consulta o histórico e tenta contato com o motorista.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EF274CF-497B-4920-85A3-BE4A0F930F7F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45C"/>
                </a:solidFill>
                <a:latin typeface="Arial"/>
                <a:ea typeface="Arial"/>
                <a:cs typeface="Arial"/>
              </a:rPr>
              <a:t>No protótipo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EA9F34-9085-4608-9A3C-B05580A5C337}"/>
              </a:ext>
            </a:extLst>
          </p:cNvPr>
          <p:cNvSpPr>
            <a:spLocks noGrp="1"/>
          </p:cNvSpPr>
          <p:nvPr/>
        </p:nvSpPr>
        <p:spPr>
          <a:xfrm>
            <a:off x="723900" y="4962525"/>
            <a:ext cx="10382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O mapa exibe posições ilustrativas. O acompanhamento real depende da coleta de GPS no Android e da integração com o backend.</a:t>
            </a:r>
          </a:p>
        </p:txBody>
      </p:sp>
    </p:spTree>
    <p:extLst>
      <p:ext uri="{BB962C8B-B14F-4D97-AF65-F5344CB8AC3E}">
        <p14:creationId xmlns:p14="http://schemas.microsoft.com/office/powerpoint/2010/main" val="151436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4C20E558-6A9A-4AA3-B888-4482A7910491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985D217-7969-4A4B-A490-A5187750D4F8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Histórico de rotas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0CECE65-94E0-4BFE-BCA1-2BCBC2947CC6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Uma trilha verificável do que aconteceu durante a viagem.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1C0D5F0-EF56-4BAF-B51B-ECA7F1AA16F4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2BCD5A5-50D6-4914-A094-091AEE91A527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0D3DF8F-505E-4B96-812C-F5159164A609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REPRODUÇÃO DO TRAJETO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20F9689-43D8-4D1A-8099-5A5AAB8742D1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7625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Traçar pontos de GPS no mapa e percorrer a linha do tempo com controles para avançar, pausar e localizar as paradas.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CBC63C5-5DDE-417F-9A64-2CBAE70DC278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EXPORTAÇÃO PARA ANÁLISE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DB7EE0C-B83C-4AA0-9E44-C84B5135FE3C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47625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Filtrar por motorista, período e viagem. Exportar pontos com data e hora, latitude, longitude, precisão e vínculo com a parada.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78E723D-EDD7-4D1A-8F7B-537F8F179745}"/>
              </a:ext>
            </a:extLst>
          </p:cNvPr>
          <p:cNvSpPr>
            <a:spLocks noGrp="1"/>
          </p:cNvSpPr>
          <p:nvPr/>
        </p:nvSpPr>
        <p:spPr>
          <a:xfrm>
            <a:off x="723900" y="4619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Benefício esperado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8038CC8-C47C-4241-8C09-4DFA29A6F056}"/>
              </a:ext>
            </a:extLst>
          </p:cNvPr>
          <p:cNvSpPr>
            <a:spLocks noGrp="1"/>
          </p:cNvSpPr>
          <p:nvPr/>
        </p:nvSpPr>
        <p:spPr>
          <a:xfrm>
            <a:off x="723900" y="5019675"/>
            <a:ext cx="971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Analisar desvios e investigar atrasos com evidências do próprio roteiro.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2D6429F-5BEC-4414-8442-F32F683A424E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000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gravação contínua de GPS e a reprodução dependem da integração operacional.</a:t>
            </a:r>
          </a:p>
        </p:txBody>
      </p:sp>
    </p:spTree>
    <p:extLst>
      <p:ext uri="{BB962C8B-B14F-4D97-AF65-F5344CB8AC3E}">
        <p14:creationId xmlns:p14="http://schemas.microsoft.com/office/powerpoint/2010/main" val="207900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3ADE9B1E-AFA2-4142-8B1E-E941AE0376E4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578CB7B-C285-4DE9-AF4A-D22E1B3805B8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Comprovantes de coleta e entrega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419BFCC-EC75-4CC5-AF61-A789A7435B75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baixa registra o que foi entregue e onde.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02D077F-2BD1-4FFA-9794-98B09B7377D4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EC7BBE-2A7E-4E1E-8D55-91FD6FD69963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ADE5C8-C2B7-481D-9878-2B95A89ED0A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FOTOS DA OPERAÇÃO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BEE7D83-1030-47CF-80E0-F2C4707B5E51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motorista anexa a foto da mercadoria entregue e a foto da fachada do local. A captura fica vinculada à parada correspondente.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B8ADBA-3BB4-4FCF-BACA-EFEFA0B8E82A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DADOS PARA CONFERÊNCIA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B21457E-7B69-4E31-89F5-4AA0CA84A90A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Nome de quem recebeu, status, data e hora, coordenadas do aparelho e precisão disponível ajudam a revisar uma ocorrência.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FB2C442-0284-462B-9A9A-FD15418FA69B}"/>
              </a:ext>
            </a:extLst>
          </p:cNvPr>
          <p:cNvSpPr>
            <a:spLocks noGrp="1"/>
          </p:cNvSpPr>
          <p:nvPr/>
        </p:nvSpPr>
        <p:spPr>
          <a:xfrm>
            <a:off x="723900" y="4619625"/>
            <a:ext cx="38100" cy="1028700"/>
          </a:xfrm>
          <a:prstGeom prst="rect">
            <a:avLst/>
          </a:prstGeom>
          <a:solidFill>
            <a:srgbClr val="16C79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A457DA-3A47-42A1-8A3B-84717914508F}"/>
              </a:ext>
            </a:extLst>
          </p:cNvPr>
          <p:cNvSpPr>
            <a:spLocks noGrp="1"/>
          </p:cNvSpPr>
          <p:nvPr/>
        </p:nvSpPr>
        <p:spPr>
          <a:xfrm>
            <a:off x="942975" y="461962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16C7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16C7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C79A"/>
                </a:solidFill>
                <a:latin typeface="Arial"/>
                <a:ea typeface="Arial"/>
                <a:cs typeface="Arial"/>
              </a:rPr>
              <a:t>Menos dúvida depois da rota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1896B16-2A23-4E8D-8CCE-A1EEC86101C5}"/>
              </a:ext>
            </a:extLst>
          </p:cNvPr>
          <p:cNvSpPr>
            <a:spLocks noGrp="1"/>
          </p:cNvSpPr>
          <p:nvPr/>
        </p:nvSpPr>
        <p:spPr>
          <a:xfrm>
            <a:off x="942975" y="5048250"/>
            <a:ext cx="962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O comprovante ganha contexto para atendimento e conferência.</a:t>
            </a:r>
          </a:p>
        </p:txBody>
      </p:sp>
    </p:spTree>
    <p:extLst>
      <p:ext uri="{BB962C8B-B14F-4D97-AF65-F5344CB8AC3E}">
        <p14:creationId xmlns:p14="http://schemas.microsoft.com/office/powerpoint/2010/main" val="84488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388BEEB0-B735-4A87-8535-2CF4DF501207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0FA722C-79E7-4E3E-ABBE-0E73BBBAD8F7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Atendimento ao motorista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DE12B8A-1731-4974-BDEF-A72260809528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Contato rápido ligado ao contexto da operação.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B252B6-4E7C-441F-B9EB-DFF41B3F2AAB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D7ABF5-765D-4E62-B315-81247ABEE9D7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F67FB2-5829-47ED-8FBE-80ACBEDA06EA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CONVERSAS NO BACKOFFICE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105AE47-B8DE-4F98-B5E6-C0B1413214EB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suporte localiza a conversa do motorista e entende a qual viagem, pedido ou ocorrência ela se refere.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50830D7-08C9-49E3-8BFD-AF1C1D37E750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PRÓXIMA AÇÃO VISÍVEL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EE13098-068E-4D9B-9DA2-ABD63E93ECB1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partir de um atraso ou tentativa sem sucesso, o analista abre a parada e registra como a equipe orientou o motorista.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7D25CDA-7280-4221-8B3E-DE78F0A2D769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Benefício esperado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89A8F1B-CE5C-466D-845F-5EA49CB48F83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Evitar mensagens dispersas e facilitar a continuidade do atendimento entre turnos.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CDBC53-1D88-4DA2-8AAF-AA43C28465C3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000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tela demonstrativa não confirma envio de mensagens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170690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437830E2-4DB3-4629-838B-AC02A4205E8B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9BB7C9-7F84-4C91-ACE6-268E489E0DBE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Indicadores para gestão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A3715F3-614C-4AF1-BD26-9A1E490193FE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Comparar períodos e transformar o resumo em investigação.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CAA0F51-6957-4F80-A1C0-11933AAA0559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6494D16-FC50-46FC-B554-C5D443A4CD29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2955D14-4916-42A0-BEE5-9AC8B5919288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MEDIDAS DA OPERAÇÃO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7B3C2F-8952-45A6-A5F8-10C4B77F1BD1}"/>
              </a:ext>
            </a:extLst>
          </p:cNvPr>
          <p:cNvSpPr>
            <a:spLocks noGrp="1"/>
          </p:cNvSpPr>
          <p:nvPr/>
        </p:nvSpPr>
        <p:spPr>
          <a:xfrm>
            <a:off x="723900" y="2514600"/>
            <a:ext cx="4762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Pedidos criados, coletas e entregas concluídas, atrasos, cancelamentos, tentativas sem sucesso, pontualidade e tempo médio por parada.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75A1C43-3435-4A8A-91DB-FEBDE17EB3FC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ANÁLISE E EXPORTAÇÃO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236F25-375B-4C2E-83FA-330BCE9473A8}"/>
              </a:ext>
            </a:extLst>
          </p:cNvPr>
          <p:cNvSpPr>
            <a:spLocks noGrp="1"/>
          </p:cNvSpPr>
          <p:nvPr/>
        </p:nvSpPr>
        <p:spPr>
          <a:xfrm>
            <a:off x="6477000" y="2514600"/>
            <a:ext cx="4762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Selecionar mês, semestre ou ano, filtrar indicadores e baixar CSV para trabalhar os números fora da plataforma.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04E4C31-668E-4501-AB56-CAD6EA79114C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Uso gerencial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86486E2-B82A-4325-A2A9-5F004A74DE6D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0191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 comparação ajuda a localizar motoristas, períodos e tipos de veículo que merecem atenção.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0370998-81B3-45D4-824B-022995395FDA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Os valores vistos nas telas são fictícios. Gráficos e métricas reais exigem dados operacionais conectados.</a:t>
            </a:r>
          </a:p>
        </p:txBody>
      </p:sp>
    </p:spTree>
    <p:extLst>
      <p:ext uri="{BB962C8B-B14F-4D97-AF65-F5344CB8AC3E}">
        <p14:creationId xmlns:p14="http://schemas.microsoft.com/office/powerpoint/2010/main" val="1359537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E15E8E57-7D42-408D-9901-7CDDCBB82D65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56ABC20-3226-4A66-A0C6-513ABEBBCEBA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Motoristas, veículos e usuários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5C924BF-0476-4E50-A1E9-FADFBE0CB36A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Perfis separados por responsabilidade.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DBD83F-47F9-430C-AB77-05EE41254A0A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008B74-57F5-4A75-83FB-03E53C37014D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DECB14-68E7-48CD-AFBB-4CE2DE57E114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CADASTRO DA EQUIPE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C7BCB13-5E6C-4BA3-BB0B-348E5F78991A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762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Motoristas com nome e sobrenome, veículo e categoria operacional. O gestor pode ativar ou inativar perfis sem apagar o histórico.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F6414E5-9560-41ED-9E47-2059A019C14E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HIERARQUIA DE ACESSO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FED0C4D-9D96-4C72-B4E0-2FEFEB2E8B23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4762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Gestores, analistas e assistentes recebem permissões compatíveis com suas tarefas. O suporte acompanha a operação dentro do mesmo backoffice.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BA2F9F-1709-4CA7-9849-C53B5E0C769E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Segurança da operação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6B88E98-D299-4FEA-A336-8DCCDB3F7066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Ações administrativas precisam registrar usuário, horário e alteração feita.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DCD35B6-8242-408C-96D6-79C9A6801072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configuração final de papéis e auditoria precisa ser validada no backend antes do uso real.</a:t>
            </a:r>
          </a:p>
        </p:txBody>
      </p:sp>
    </p:spTree>
    <p:extLst>
      <p:ext uri="{BB962C8B-B14F-4D97-AF65-F5344CB8AC3E}">
        <p14:creationId xmlns:p14="http://schemas.microsoft.com/office/powerpoint/2010/main" val="181743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62EA8630-5284-4AC1-A1BC-5D296B52B1BC}"/>
              </a:ext>
            </a:extLst>
          </p:cNvPr>
          <p:cNvSpPr>
            <a:spLocks noGrp="1"/>
          </p:cNvSpPr>
          <p:nvPr/>
        </p:nvSpPr>
        <p:spPr>
          <a:xfrm>
            <a:off x="704850" y="485775"/>
            <a:ext cx="514350" cy="47625"/>
          </a:xfrm>
          <a:prstGeom prst="rect">
            <a:avLst/>
          </a:prstGeom>
          <a:solidFill>
            <a:srgbClr val="00C2C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9D6BF42-8806-4810-AAA7-8305073323BD}"/>
              </a:ext>
            </a:extLst>
          </p:cNvPr>
          <p:cNvSpPr>
            <a:spLocks noGrp="1"/>
          </p:cNvSpPr>
          <p:nvPr/>
        </p:nvSpPr>
        <p:spPr>
          <a:xfrm>
            <a:off x="704850" y="742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Valor para a operação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73F6277-6D0B-4BB6-896D-549AC2021B92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Uma base única para acompanhar o pedido até o encerramento da rota.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53086FC-6851-434E-892C-F4DAB827C2B7}"/>
              </a:ext>
            </a:extLst>
          </p:cNvPr>
          <p:cNvSpPr>
            <a:spLocks noGrp="1"/>
          </p:cNvSpPr>
          <p:nvPr/>
        </p:nvSpPr>
        <p:spPr>
          <a:xfrm>
            <a:off x="704850" y="6467475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502A743-DBB9-43DB-B798-625F26E51A72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9170178-59DC-48F4-B7DC-B04F7FD16ACD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PARA O GESTOR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77D3DE4-CFC8-40BB-BADA-4F10F39F7C95}"/>
              </a:ext>
            </a:extLst>
          </p:cNvPr>
          <p:cNvSpPr>
            <a:spLocks noGrp="1"/>
          </p:cNvSpPr>
          <p:nvPr/>
        </p:nvSpPr>
        <p:spPr>
          <a:xfrm>
            <a:off x="723900" y="2486025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Visão de entregas, coletas, atrasos e cancelamentos. Mais contexto para decidir quem atender ou que parada revisar.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DE1C55-0A59-42B8-B91D-77D1C9B1B605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PARA O TIME DE RUA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6A3C75C-4485-4D51-B4EF-CA0E5370416E}"/>
              </a:ext>
            </a:extLst>
          </p:cNvPr>
          <p:cNvSpPr>
            <a:spLocks noGrp="1"/>
          </p:cNvSpPr>
          <p:nvPr/>
        </p:nvSpPr>
        <p:spPr>
          <a:xfrm>
            <a:off x="6477000" y="2486025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Instruções de rota, registro da execução e comprovantes vinculados à parada. Menos necessidade de explicar o mesmo evento várias vezes.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5C47B9-231C-4864-AC4F-9402335B631A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10744200" cy="19050"/>
          </a:xfrm>
          <a:prstGeom prst="rect">
            <a:avLst/>
          </a:prstGeom>
          <a:solidFill>
            <a:srgbClr val="21314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DD18E3C-CE09-410B-80A0-6FDD087F48E0}"/>
              </a:ext>
            </a:extLst>
          </p:cNvPr>
          <p:cNvSpPr>
            <a:spLocks noGrp="1"/>
          </p:cNvSpPr>
          <p:nvPr/>
        </p:nvSpPr>
        <p:spPr>
          <a:xfrm>
            <a:off x="723900" y="452437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45C"/>
                </a:solidFill>
                <a:latin typeface="Arial"/>
                <a:ea typeface="Arial"/>
                <a:cs typeface="Arial"/>
              </a:rPr>
              <a:t>Estágio atual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C6D9E61-0806-4CD4-80E9-D4DDAE8C4984}"/>
              </a:ext>
            </a:extLst>
          </p:cNvPr>
          <p:cNvSpPr>
            <a:spLocks noGrp="1"/>
          </p:cNvSpPr>
          <p:nvPr/>
        </p:nvSpPr>
        <p:spPr>
          <a:xfrm>
            <a:off x="723900" y="49625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interface é um protótipo demonstrativo. Para operar com dados reais, ainda faltam integrar banco e permissões, GPS, fotos, conversas, sincronização offline e validação do app Android.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FFFAD7F-A763-447A-8C3E-E91FF9FB1F21}"/>
              </a:ext>
            </a:extLst>
          </p:cNvPr>
          <p:cNvSpPr>
            <a:spLocks noGrp="1"/>
          </p:cNvSpPr>
          <p:nvPr/>
        </p:nvSpPr>
        <p:spPr>
          <a:xfrm>
            <a:off x="723900" y="6048375"/>
            <a:ext cx="1038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Benefícios descritos são objetivos de produto, sem promessa de resultado quantitativo.</a:t>
            </a:r>
          </a:p>
        </p:txBody>
      </p:sp>
    </p:spTree>
    <p:extLst>
      <p:ext uri="{BB962C8B-B14F-4D97-AF65-F5344CB8AC3E}">
        <p14:creationId xmlns:p14="http://schemas.microsoft.com/office/powerpoint/2010/main" val="1635515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1077</Words>
  <Application>Microsoft Office PowerPoint</Application>
  <DocSecurity>0</DocSecurity>
  <PresentationFormat>Widescreen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Tiago Araújo</cp:lastModifiedBy>
  <cp:revision>1</cp:revision>
  <dcterms:created xsi:type="dcterms:W3CDTF">2026-10-09T14:16:41Z</dcterms:created>
  <dcterms:modified xsi:type="dcterms:W3CDTF">2026-10-09T14:28:38Z</dcterms:modified>
</cp:coreProperties>
</file>